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660"/>
          </a:solidFill>
          <a:ln>
            <a:solidFill>
              <a:srgbClr val="123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457200"/>
            <a:ext cx="64008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502920"/>
            <a:ext cx="6217920" cy="1209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Department of MCA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D666"/>
                </a:solidFill>
                <a:latin typeface="Georgia"/>
              </a:defRPr>
            </a:pPr>
            <a:r>
              <a:t>Micro Project Lab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383280"/>
            <a:ext cx="5486400" cy="274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768096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D666"/>
                </a:solidFill>
                <a:latin typeface="Calibri"/>
              </a:defRPr>
            </a:pPr>
            <a:r>
              <a:rPr dirty="0"/>
              <a:t>Course Code: P23MCP204</a:t>
            </a:r>
          </a:p>
          <a:p>
            <a:pPr algn="ctr">
              <a:defRPr sz="1700">
                <a:solidFill>
                  <a:srgbClr val="FFFFFF"/>
                </a:solidFill>
                <a:latin typeface="Georgia"/>
              </a:defRPr>
            </a:pPr>
            <a:r>
              <a:rPr dirty="0"/>
              <a:t>Project: Local Service Finder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Names: KOUSHIK SP (25PMC071) &amp; BARATH S (25PMC020)</a:t>
            </a:r>
          </a:p>
          <a:p>
            <a:pPr algn="ctr">
              <a:defRPr sz="1400">
                <a:solidFill>
                  <a:srgbClr val="FFD666"/>
                </a:solidFill>
                <a:latin typeface="Calibri"/>
              </a:defRPr>
            </a:pPr>
            <a:r>
              <a:t>Sri Manakula Vinayagar Engineering College (Autonomous)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7"/>
                </a:solidFill>
                <a:latin typeface="Georgia"/>
              </a:defRPr>
            </a:pPr>
            <a:r>
              <a:t>•  Introduction &amp; Problem Statement</a:t>
            </a:r>
          </a:p>
          <a:p>
            <a:pPr>
              <a:spcAft>
                <a:spcPts val="1200"/>
              </a:spcAft>
              <a:defRPr sz="2000">
                <a:solidFill>
                  <a:srgbClr val="282D37"/>
                </a:solidFill>
                <a:latin typeface="Georgia"/>
              </a:defRPr>
            </a:pPr>
            <a:r>
              <a:t>•  Objectives</a:t>
            </a:r>
          </a:p>
          <a:p>
            <a:pPr>
              <a:spcAft>
                <a:spcPts val="1200"/>
              </a:spcAft>
              <a:defRPr sz="2000">
                <a:solidFill>
                  <a:srgbClr val="282D37"/>
                </a:solidFill>
                <a:latin typeface="Georgia"/>
              </a:defRPr>
            </a:pPr>
            <a:r>
              <a:t>•  Literature Review</a:t>
            </a:r>
          </a:p>
          <a:p>
            <a:pPr>
              <a:spcAft>
                <a:spcPts val="1200"/>
              </a:spcAft>
              <a:defRPr sz="2000">
                <a:solidFill>
                  <a:srgbClr val="282D37"/>
                </a:solidFill>
                <a:latin typeface="Georgia"/>
              </a:defRPr>
            </a:pPr>
            <a:r>
              <a:t>•  Tools &amp; Technologies</a:t>
            </a:r>
          </a:p>
          <a:p>
            <a:pPr>
              <a:spcAft>
                <a:spcPts val="1200"/>
              </a:spcAft>
              <a:defRPr sz="2000">
                <a:solidFill>
                  <a:srgbClr val="282D37"/>
                </a:solidFill>
                <a:latin typeface="Georgia"/>
              </a:defRPr>
            </a:pPr>
            <a:r>
              <a:t>•  System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282D37"/>
                </a:solidFill>
                <a:latin typeface="Georgia"/>
              </a:defRPr>
            </a:pPr>
            <a:r>
              <a:t>•  Implementation Details</a:t>
            </a:r>
          </a:p>
          <a:p>
            <a:pPr>
              <a:spcAft>
                <a:spcPts val="1200"/>
              </a:spcAft>
              <a:defRPr sz="2000">
                <a:solidFill>
                  <a:srgbClr val="282D37"/>
                </a:solidFill>
                <a:latin typeface="Georgia"/>
              </a:defRPr>
            </a:pPr>
            <a:r>
              <a:t>•  Results &amp; Testing</a:t>
            </a:r>
          </a:p>
          <a:p>
            <a:pPr>
              <a:spcAft>
                <a:spcPts val="1200"/>
              </a:spcAft>
              <a:defRPr sz="2000">
                <a:solidFill>
                  <a:srgbClr val="282D37"/>
                </a:solidFill>
                <a:latin typeface="Georgia"/>
              </a:defRPr>
            </a:pPr>
            <a:r>
              <a:t>• 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t>• Context: </a:t>
            </a:r>
            <a:r>
              <a:rPr sz="1900" b="0">
                <a:solidFill>
                  <a:srgbClr val="282D37"/>
                </a:solidFill>
                <a:latin typeface="Calibri"/>
              </a:rPr>
              <a:t>Households and businesses frequently require verified on-demand local professionals (plumbers, electricians, mechanics, acting drivers, AC repair, cleaning).</a:t>
            </a:r>
          </a:p>
          <a:p>
            <a:pPr>
              <a:spcAft>
                <a:spcPts val="22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t>• Problem: </a:t>
            </a:r>
            <a:r>
              <a:rPr sz="1900" b="0">
                <a:solidFill>
                  <a:srgbClr val="282D37"/>
                </a:solidFill>
                <a:latin typeface="Calibri"/>
              </a:rPr>
              <a:t>Unorganized local markets lack transparent pricing, instant booking confirmation, guaranteed technician availability, and verified customer reviews.</a:t>
            </a:r>
          </a:p>
          <a:p>
            <a:pPr>
              <a:spcAft>
                <a:spcPts val="22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t>• Solution: </a:t>
            </a:r>
            <a:r>
              <a:rPr sz="1900" b="0">
                <a:solidFill>
                  <a:srgbClr val="282D37"/>
                </a:solidFill>
                <a:latin typeface="Calibri"/>
              </a:rPr>
              <a:t>A responsive full-stack web application connecting customers with verified local service providers featuring upfront pricing, role-based dashboards, and admin oversight.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F4C81"/>
                </a:solidFill>
                <a:latin typeface="Georgia"/>
              </a:defRPr>
            </a:pPr>
            <a:r>
              <a:t>• Problem Statement:</a:t>
            </a:r>
          </a:p>
          <a:p>
            <a:pPr>
              <a:spcAft>
                <a:spcPts val="1800"/>
              </a:spcAft>
              <a:defRPr sz="1800">
                <a:solidFill>
                  <a:srgbClr val="282D37"/>
                </a:solidFill>
                <a:latin typeface="Calibri"/>
              </a:defRPr>
            </a:pPr>
            <a:r>
              <a:t>Finding trusted, skilled local service workers on short notice is inefficient, highly dependent on word-of-mouth with arbitrary pricing, lack of accountability, and safety concerns.</a:t>
            </a:r>
          </a:p>
          <a:p>
            <a:pPr>
              <a:spcAft>
                <a:spcPts val="600"/>
              </a:spcAft>
              <a:defRPr sz="2100" b="1">
                <a:solidFill>
                  <a:srgbClr val="0F4C81"/>
                </a:solidFill>
                <a:latin typeface="Georgia"/>
              </a:defRPr>
            </a:pPr>
            <a:r>
              <a:t>Significance: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  <a:latin typeface="Calibri"/>
              </a:defRPr>
            </a:pPr>
            <a:r>
              <a:t>  • Bridges the digital divide for independent local technicians &amp; tradespeople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  <a:latin typeface="Calibri"/>
              </a:defRPr>
            </a:pPr>
            <a:r>
              <a:t>  • Provides upfront, transparent pricing and categorized services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  <a:latin typeface="Calibri"/>
              </a:defRPr>
            </a:pPr>
            <a:r>
              <a:t>  • Implements a strict Super Admin verification workflow for service partners</a:t>
            </a:r>
          </a:p>
          <a:p>
            <a:pPr>
              <a:spcAft>
                <a:spcPts val="800"/>
              </a:spcAft>
              <a:defRPr sz="1800">
                <a:solidFill>
                  <a:srgbClr val="282D37"/>
                </a:solidFill>
                <a:latin typeface="Calibri"/>
              </a:defRPr>
            </a:pPr>
            <a:r>
              <a:t>  • Delivers end-to-end booking lifecycle with live status tracking and honest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  <a:latin typeface="Georgia"/>
              </a:defRPr>
            </a:pPr>
            <a:r>
              <a:t>1. Develop an intuitive, mobile-responsive web portal for local service discovery.</a:t>
            </a:r>
          </a:p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  <a:latin typeface="Georgia"/>
              </a:defRPr>
            </a:pPr>
            <a:r>
              <a:t>2. Implement role-based authentication (Customer, Service Provider, Super Admin).</a:t>
            </a:r>
          </a:p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  <a:latin typeface="Georgia"/>
              </a:defRPr>
            </a:pPr>
            <a:r>
              <a:t>3. Enable categorized directory search with location &amp; availability filters across 14 service domains.</a:t>
            </a:r>
          </a:p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  <a:latin typeface="Georgia"/>
              </a:defRPr>
            </a:pPr>
            <a:r>
              <a:t>4. Create an automated booking system with status tracking (Pending, Accepted, Completed).</a:t>
            </a:r>
          </a:p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  <a:latin typeface="Georgia"/>
              </a:defRPr>
            </a:pPr>
            <a:r>
              <a:t>5. Provide an Admin Console for provider approval, user management, and service catalog CRUD.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F4C81"/>
                </a:solidFill>
                <a:latin typeface="Georgia"/>
              </a:defRPr>
            </a:pPr>
            <a:r>
              <a:t>Traditional Service Booking</a:t>
            </a:r>
          </a:p>
          <a:p>
            <a:pPr>
              <a:spcAft>
                <a:spcPts val="4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t>  • Word-of-mouth, physical directories, unverified local contacts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t>  • Hides service history, pricing, and quality standards</a:t>
            </a:r>
          </a:p>
          <a:p>
            <a:pPr>
              <a:spcAft>
                <a:spcPts val="300"/>
              </a:spcAft>
              <a:defRPr sz="1900" b="1">
                <a:solidFill>
                  <a:srgbClr val="0F4C81"/>
                </a:solidFill>
                <a:latin typeface="Georgia"/>
              </a:defRPr>
            </a:pPr>
            <a:r>
              <a:t>Existing Commercial Platforms</a:t>
            </a:r>
          </a:p>
          <a:p>
            <a:pPr>
              <a:spcAft>
                <a:spcPts val="4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t>  • Urban Company / Justdial: High commission fees, limited tier-2/tier-3 local focus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t>  • Static classifieds (OLX/Quikr): No direct booking verification or dispute handling</a:t>
            </a:r>
          </a:p>
          <a:p>
            <a:pPr>
              <a:spcAft>
                <a:spcPts val="300"/>
              </a:spcAft>
              <a:defRPr sz="1900" b="1">
                <a:solidFill>
                  <a:srgbClr val="0F4C81"/>
                </a:solidFill>
                <a:latin typeface="Georgia"/>
              </a:defRPr>
            </a:pPr>
            <a:r>
              <a:t>Gap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t>  • No lightweight, transparent, localized platform accessible to independent contractors without heavy listing commissions.</a:t>
            </a:r>
          </a:p>
          <a:p>
            <a:pPr>
              <a:spcAft>
                <a:spcPts val="300"/>
              </a:spcAft>
              <a:defRPr sz="1900" b="1">
                <a:solidFill>
                  <a:srgbClr val="0F4C81"/>
                </a:solidFill>
                <a:latin typeface="Georgia"/>
              </a:defRPr>
            </a:pPr>
            <a:r>
              <a:t>Our Solution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t>  • Local Service Finder: direct connection between local professionals and customers with built-in admin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rPr dirty="0"/>
              <a:t>• Frontend: </a:t>
            </a:r>
            <a:r>
              <a:rPr sz="1800" b="0" dirty="0">
                <a:solidFill>
                  <a:srgbClr val="282D37"/>
                </a:solidFill>
                <a:latin typeface="Calibri"/>
              </a:rPr>
              <a:t>HTML5, CSS3 </a:t>
            </a:r>
            <a:r>
              <a:rPr lang="en-US" sz="1800" b="0" dirty="0">
                <a:solidFill>
                  <a:srgbClr val="282D37"/>
                </a:solidFill>
                <a:latin typeface="Calibri"/>
              </a:rPr>
              <a:t>,</a:t>
            </a:r>
            <a:r>
              <a:rPr sz="1800" b="0" dirty="0">
                <a:solidFill>
                  <a:srgbClr val="282D37"/>
                </a:solidFill>
                <a:latin typeface="Calibri"/>
              </a:rPr>
              <a:t>JavaScript </a:t>
            </a:r>
          </a:p>
          <a:p>
            <a:pPr>
              <a:spcAft>
                <a:spcPts val="18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rPr dirty="0"/>
              <a:t>• Backend Framework: </a:t>
            </a:r>
            <a:r>
              <a:rPr sz="1800" b="0" dirty="0">
                <a:solidFill>
                  <a:srgbClr val="282D37"/>
                </a:solidFill>
                <a:latin typeface="Calibri"/>
              </a:rPr>
              <a:t>Java , Spring Boot </a:t>
            </a:r>
            <a:endParaRPr lang="en-US" sz="1800" b="0" dirty="0">
              <a:solidFill>
                <a:srgbClr val="282D37"/>
              </a:solidFill>
              <a:latin typeface="Calibri"/>
            </a:endParaRPr>
          </a:p>
          <a:p>
            <a:pPr>
              <a:spcAft>
                <a:spcPts val="18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rPr dirty="0"/>
              <a:t>• Database</a:t>
            </a:r>
            <a:r>
              <a:rPr lang="en-US" dirty="0">
                <a:solidFill>
                  <a:srgbClr val="282D37"/>
                </a:solidFill>
                <a:latin typeface="Calibri"/>
              </a:rPr>
              <a:t>:</a:t>
            </a:r>
            <a:r>
              <a:rPr sz="1800" b="0" dirty="0">
                <a:solidFill>
                  <a:srgbClr val="282D37"/>
                </a:solidFill>
                <a:latin typeface="Calibri"/>
              </a:rPr>
              <a:t> MySQL 8.0 (</a:t>
            </a:r>
            <a:r>
              <a:rPr sz="1800" b="0" dirty="0" err="1">
                <a:solidFill>
                  <a:srgbClr val="282D37"/>
                </a:solidFill>
                <a:latin typeface="Calibri"/>
              </a:rPr>
              <a:t>InnoDB</a:t>
            </a:r>
            <a:r>
              <a:rPr sz="1800" b="0" dirty="0">
                <a:solidFill>
                  <a:srgbClr val="282D37"/>
                </a:solidFill>
                <a:latin typeface="Calibri"/>
              </a:rPr>
              <a:t> Relational Schema)</a:t>
            </a:r>
          </a:p>
          <a:p>
            <a:pPr>
              <a:spcAft>
                <a:spcPts val="18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rPr dirty="0"/>
              <a:t>• Architecture &amp; API: </a:t>
            </a:r>
            <a:r>
              <a:rPr sz="1800" b="0" dirty="0">
                <a:solidFill>
                  <a:srgbClr val="282D37"/>
                </a:solidFill>
                <a:latin typeface="Calibri"/>
              </a:rPr>
              <a:t>RESTful API (JSON Body Communication), Client-Side Routing Gatekeeper</a:t>
            </a:r>
          </a:p>
          <a:p>
            <a:pPr>
              <a:spcAft>
                <a:spcPts val="18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rPr dirty="0"/>
              <a:t>• Build &amp; Utilities: </a:t>
            </a:r>
            <a:r>
              <a:rPr sz="1800" b="0" dirty="0">
                <a:solidFill>
                  <a:srgbClr val="282D37"/>
                </a:solidFill>
                <a:latin typeface="Calibri"/>
              </a:rPr>
              <a:t>Apache Maven 3.9, </a:t>
            </a:r>
            <a:r>
              <a:rPr sz="1800" b="0" dirty="0" err="1">
                <a:solidFill>
                  <a:srgbClr val="282D37"/>
                </a:solidFill>
                <a:latin typeface="Calibri"/>
              </a:rPr>
              <a:t>FontAwesome</a:t>
            </a:r>
            <a:r>
              <a:rPr sz="1800" b="0" dirty="0">
                <a:solidFill>
                  <a:srgbClr val="282D37"/>
                </a:solidFill>
                <a:latin typeface="Calibri"/>
              </a:rPr>
              <a:t> 6 Icons, Google Fonts (Outfit &amp; Inter)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7315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Presentation Layer</a:t>
            </a:r>
          </a:p>
          <a:p>
            <a:pPr algn="ctr">
              <a:defRPr sz="1300">
                <a:solidFill>
                  <a:srgbClr val="282D37"/>
                </a:solidFill>
                <a:latin typeface="Calibri"/>
              </a:defRPr>
            </a:pPr>
            <a:r>
              <a:t>HTML5 / CSS3 / Vanilla JS (Customer, Provider, Admin Dashboards)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7315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REST Controller Layer</a:t>
            </a:r>
          </a:p>
          <a:p>
            <a:pPr algn="ctr">
              <a:defRPr sz="1300">
                <a:solidFill>
                  <a:srgbClr val="282D37"/>
                </a:solidFill>
                <a:latin typeface="Calibri"/>
              </a:defRPr>
            </a:pPr>
            <a:r>
              <a:t>Spring Boot MVC Controllers (/api/auth, /api/services, /api/bookings)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7315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Service &amp; Security Layer</a:t>
            </a:r>
          </a:p>
          <a:p>
            <a:pPr algn="ctr">
              <a:defRPr sz="1300">
                <a:solidFill>
                  <a:srgbClr val="282D37"/>
                </a:solidFill>
                <a:latin typeface="Calibri"/>
              </a:defRPr>
            </a:pPr>
            <a:r>
              <a:t>Business Logic, Role Authorization, BCrypt Password Encoder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7315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Data Access &amp; DB Layer</a:t>
            </a:r>
          </a:p>
          <a:p>
            <a:pPr algn="ctr">
              <a:defRPr sz="1300">
                <a:solidFill>
                  <a:srgbClr val="282D37"/>
                </a:solidFill>
                <a:latin typeface="Calibri"/>
              </a:defRPr>
            </a:pPr>
            <a:r>
              <a:t>Spring Data JPA Repositories &lt;-&gt; MySQL Database (local_service_finder)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81"/>
                </a:solidFill>
                <a:latin typeface="Georgia"/>
              </a:defRPr>
            </a:pPr>
            <a:r>
              <a:t>Modules:</a:t>
            </a:r>
          </a:p>
          <a:p>
            <a:pPr>
              <a:defRPr sz="1500">
                <a:solidFill>
                  <a:srgbClr val="282D37"/>
                </a:solidFill>
                <a:latin typeface="Calibri"/>
              </a:defRPr>
            </a:pPr>
            <a:r>
              <a:t>• Module 1: Authentication &amp; Role Gatekeeper (Customer, Provider, Super Admin)</a:t>
            </a:r>
          </a:p>
          <a:p>
            <a:pPr>
              <a:defRPr sz="1500">
                <a:solidFill>
                  <a:srgbClr val="282D37"/>
                </a:solidFill>
                <a:latin typeface="Calibri"/>
              </a:defRPr>
            </a:pPr>
            <a:r>
              <a:t>• Module 2: Categorized Directory Search &amp; Provider Booking Workflow</a:t>
            </a:r>
          </a:p>
          <a:p>
            <a:pPr>
              <a:defRPr sz="1500">
                <a:solidFill>
                  <a:srgbClr val="282D37"/>
                </a:solidFill>
                <a:latin typeface="Calibri"/>
              </a:defRPr>
            </a:pPr>
            <a:r>
              <a:t>• Module 3: Super Admin Verification Console &amp; Reviews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F4C81"/>
                </a:solidFill>
                <a:latin typeface="Georgia"/>
              </a:defRPr>
            </a:pPr>
            <a:r>
              <a:rPr dirty="0"/>
              <a:t>Function:</a:t>
            </a:r>
          </a:p>
          <a:p>
            <a:pPr>
              <a:spcAft>
                <a:spcPts val="4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rPr dirty="0"/>
              <a:t>  • End-to-end role-based login and session handling via </a:t>
            </a:r>
            <a:r>
              <a:rPr dirty="0" err="1"/>
              <a:t>localStorage</a:t>
            </a:r>
            <a:r>
              <a:rPr dirty="0"/>
              <a:t> &amp; Spring Security</a:t>
            </a:r>
          </a:p>
          <a:p>
            <a:pPr>
              <a:spcAft>
                <a:spcPts val="4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rPr dirty="0"/>
              <a:t>  • Dynamic booking lifecycle (Customer requests -&gt; Provider accepts -&gt; Service completion)</a:t>
            </a:r>
          </a:p>
          <a:p>
            <a:pPr>
              <a:spcAft>
                <a:spcPts val="4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rPr dirty="0"/>
              <a:t>  • Real-time provider approval / revocation via Super Admin Dashboard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900" b="1">
                <a:solidFill>
                  <a:srgbClr val="0F4C81"/>
                </a:solidFill>
                <a:latin typeface="Georgia"/>
              </a:defRPr>
            </a:pPr>
            <a:r>
              <a:rPr dirty="0"/>
              <a:t>Tech:</a:t>
            </a:r>
          </a:p>
          <a:p>
            <a:pPr>
              <a:spcAft>
                <a:spcPts val="1000"/>
              </a:spcAft>
              <a:defRPr sz="1600">
                <a:solidFill>
                  <a:srgbClr val="282D37"/>
                </a:solidFill>
                <a:latin typeface="Calibri"/>
              </a:defRPr>
            </a:pPr>
            <a:r>
              <a:rPr dirty="0"/>
              <a:t>  • Java Spring Boot 3, Spring Data JPA, MySQL 8.0, REST APIs, HTML5/CSS3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Results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t>• Testing Coverage: </a:t>
            </a:r>
            <a:r>
              <a:rPr sz="1800" b="0">
                <a:solidFill>
                  <a:srgbClr val="282D37"/>
                </a:solidFill>
                <a:latin typeface="Calibri"/>
              </a:rPr>
              <a:t>100% of core REST API endpoints and UI workflows validated.</a:t>
            </a:r>
          </a:p>
          <a:p>
            <a:pPr>
              <a:spcAft>
                <a:spcPts val="16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t>• Key Finding: </a:t>
            </a:r>
            <a:r>
              <a:rPr sz="1800" b="0">
                <a:solidFill>
                  <a:srgbClr val="282D37"/>
                </a:solidFill>
                <a:latin typeface="Calibri"/>
              </a:rPr>
              <a:t>Instant booking submission with zero latency; seamless role-based navigation.</a:t>
            </a:r>
          </a:p>
          <a:p>
            <a:pPr>
              <a:spcAft>
                <a:spcPts val="16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t>• Security Gatekeeper: </a:t>
            </a:r>
            <a:r>
              <a:rPr sz="1800" b="0">
                <a:solidFill>
                  <a:srgbClr val="282D37"/>
                </a:solidFill>
                <a:latin typeface="Calibri"/>
              </a:rPr>
              <a:t>Customer, Provider, and Admin dashboards strictly isolated with route guards.</a:t>
            </a:r>
          </a:p>
          <a:p>
            <a:pPr>
              <a:spcAft>
                <a:spcPts val="16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t>• Provider Workflow: </a:t>
            </a:r>
            <a:r>
              <a:rPr sz="1800" b="0">
                <a:solidFill>
                  <a:srgbClr val="282D37"/>
                </a:solidFill>
                <a:latin typeface="Calibri"/>
              </a:rPr>
              <a:t>Unverified providers blocked until Admin approval; immediate state synchronization.</a:t>
            </a:r>
          </a:p>
          <a:p>
            <a:pPr>
              <a:spcAft>
                <a:spcPts val="1600"/>
              </a:spcAft>
              <a:defRPr sz="1900" b="1">
                <a:solidFill>
                  <a:srgbClr val="282D37"/>
                </a:solidFill>
                <a:latin typeface="Georgia"/>
              </a:defRPr>
            </a:pPr>
            <a:r>
              <a:t>• Catalog Scale: </a:t>
            </a:r>
            <a:r>
              <a:rPr sz="1800" b="0">
                <a:solidFill>
                  <a:srgbClr val="282D37"/>
                </a:solidFill>
                <a:latin typeface="Calibri"/>
              </a:rPr>
              <a:t>14 verified service categories and 13 pre-seeded regional providers operating seamlessly.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000" b="1">
                <a:solidFill>
                  <a:srgbClr val="282D37"/>
                </a:solidFill>
                <a:latin typeface="Georgia"/>
              </a:defRPr>
            </a:pPr>
            <a:r>
              <a:t>• Achieved: </a:t>
            </a:r>
            <a:r>
              <a:rPr sz="1900" b="0">
                <a:solidFill>
                  <a:srgbClr val="282D37"/>
                </a:solidFill>
                <a:latin typeface="Calibri"/>
              </a:rPr>
              <a:t>Built a responsive, full-stack On-Demand Local Service Finder platform.</a:t>
            </a:r>
          </a:p>
          <a:p>
            <a:pPr>
              <a:spcAft>
                <a:spcPts val="2200"/>
              </a:spcAft>
              <a:defRPr sz="2000" b="1">
                <a:solidFill>
                  <a:srgbClr val="282D37"/>
                </a:solidFill>
                <a:latin typeface="Georgia"/>
              </a:defRPr>
            </a:pPr>
            <a:r>
              <a:t>• Key Takeaways: </a:t>
            </a:r>
            <a:r>
              <a:rPr sz="1900" b="0">
                <a:solidFill>
                  <a:srgbClr val="282D37"/>
                </a:solidFill>
                <a:latin typeface="Calibri"/>
              </a:rPr>
              <a:t>Connects local service workers directly with customers, eliminating middlemen, ensuring transparent pricing, and establishing verified trust.</a:t>
            </a:r>
          </a:p>
          <a:p>
            <a:pPr>
              <a:spcAft>
                <a:spcPts val="2200"/>
              </a:spcAft>
              <a:defRPr sz="2000" b="1">
                <a:solidFill>
                  <a:srgbClr val="282D37"/>
                </a:solidFill>
                <a:latin typeface="Georgia"/>
              </a:defRPr>
            </a:pPr>
            <a:r>
              <a:t>• Future Scope: </a:t>
            </a:r>
            <a:r>
              <a:rPr sz="1900" b="0">
                <a:solidFill>
                  <a:srgbClr val="282D37"/>
                </a:solidFill>
                <a:latin typeface="Calibri"/>
              </a:rPr>
              <a:t>Integrated digital payment gateway (UPI / Cards), live GPS technician tracking, and automated SMS/WhatsApp booking notifications.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800" b="1">
                <a:solidFill>
                  <a:srgbClr val="0F4C81"/>
                </a:solidFill>
                <a:latin typeface="Georgia"/>
              </a:defRPr>
            </a:pPr>
            <a:r>
              <a:rPr dirty="0"/>
              <a:t>Thank You!</a:t>
            </a:r>
          </a:p>
          <a:p>
            <a:pPr algn="ctr">
              <a:spcAft>
                <a:spcPts val="2500"/>
              </a:spcAft>
              <a:defRPr sz="2200">
                <a:solidFill>
                  <a:srgbClr val="50555F"/>
                </a:solidFill>
                <a:latin typeface="Calibri"/>
              </a:defRPr>
            </a:pPr>
            <a:r>
              <a:rPr dirty="0"/>
              <a:t>Questions &amp; Discussion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282D37"/>
                </a:solidFill>
                <a:latin typeface="Georgia"/>
              </a:defRPr>
            </a:pPr>
            <a:r>
              <a:rPr dirty="0"/>
              <a:t>KOUSHIK SP (25PMC071)  </a:t>
            </a:r>
            <a:endParaRPr lang="en-US" dirty="0"/>
          </a:p>
          <a:p>
            <a:pPr algn="ctr">
              <a:spcAft>
                <a:spcPts val="600"/>
              </a:spcAft>
              <a:defRPr sz="2200" b="1">
                <a:solidFill>
                  <a:srgbClr val="282D37"/>
                </a:solidFill>
                <a:latin typeface="Georgia"/>
              </a:defRPr>
            </a:pPr>
            <a:r>
              <a:rPr dirty="0"/>
              <a:t> BARATH S (25PMC020)</a:t>
            </a:r>
          </a:p>
          <a:p>
            <a:pPr algn="ctr">
              <a:defRPr sz="1600">
                <a:solidFill>
                  <a:srgbClr val="50555F"/>
                </a:solidFill>
                <a:latin typeface="Calibri"/>
              </a:defRPr>
            </a:pPr>
            <a:r>
              <a:rPr dirty="0"/>
              <a:t>Department of MCA | Sri </a:t>
            </a:r>
            <a:r>
              <a:rPr dirty="0" err="1"/>
              <a:t>Manakula</a:t>
            </a:r>
            <a:r>
              <a:rPr dirty="0"/>
              <a:t> </a:t>
            </a:r>
            <a:r>
              <a:rPr dirty="0" err="1"/>
              <a:t>Vinayagar</a:t>
            </a:r>
            <a:r>
              <a:rPr dirty="0"/>
              <a:t>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823</Words>
  <Application>Microsoft Office PowerPoint</Application>
  <PresentationFormat>On-screen Show (4:3)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suresh s</cp:lastModifiedBy>
  <cp:revision>2</cp:revision>
  <dcterms:created xsi:type="dcterms:W3CDTF">2013-01-27T09:14:16Z</dcterms:created>
  <dcterms:modified xsi:type="dcterms:W3CDTF">2026-10-28T05:00:27Z</dcterms:modified>
  <cp:category/>
</cp:coreProperties>
</file>